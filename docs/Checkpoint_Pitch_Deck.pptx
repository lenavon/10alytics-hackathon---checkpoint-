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4284B"/>
                </a:solidFill>
                <a:latin typeface="Cambria"/>
              </a:defRPr>
            </a:pPr>
            <a:r>
              <a:rPr sz="1300" b="0" i="0" u="none" strike="noStrike">
                <a:solidFill>
                  <a:srgbClr val="14284B"/>
                </a:solidFill>
                <a:latin typeface="Cambria"/>
              </a:rPr>
              <a:t>Illustrative benefit vs. cost (CAD)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Illustrative benefit (CAD)</c:v>
                </c:pt>
              </c:strCache>
            </c:strRef>
          </c:tx>
          <c:spPr>
            <a:solidFill>
              <a:srgbClr val="C8A24A"/>
            </a:solidFill>
            <a:effectLst/>
          </c:spPr>
          <c:invertIfNegative val="0"/>
          <c:dLbls>
            <c:numFmt formatCode="\$#,##0.00,,&quot;M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F2937"/>
                    </a:solidFill>
                    <a:latin typeface="Arial"/>
                  </a:defRPr>
                </a:pPr>
                <a:endParaRPr lang="en-GH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Year 1</c:v>
                </c:pt>
                <c:pt idx="1">
                  <c:v>Year 2</c:v>
                </c:pt>
                <c:pt idx="2">
                  <c:v>Year 3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1400000</c:v>
                </c:pt>
                <c:pt idx="1">
                  <c:v>1400000</c:v>
                </c:pt>
                <c:pt idx="2">
                  <c:v>1400000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C19-498A-AB4A-E5C3750B7C5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Illustrative cost (CAD)</c:v>
                </c:pt>
              </c:strCache>
            </c:strRef>
          </c:tx>
          <c:spPr>
            <a:solidFill>
              <a:srgbClr val="14284B"/>
            </a:solidFill>
            <a:effectLst/>
          </c:spPr>
          <c:invertIfNegative val="0"/>
          <c:dLbls>
            <c:numFmt formatCode="\$#,##0.00,,&quot;M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F2937"/>
                    </a:solidFill>
                    <a:latin typeface="Arial"/>
                  </a:defRPr>
                </a:pPr>
                <a:endParaRPr lang="en-GH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Year 1</c:v>
                </c:pt>
                <c:pt idx="1">
                  <c:v>Year 2</c:v>
                </c:pt>
                <c:pt idx="2">
                  <c:v>Year 3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1365000</c:v>
                </c:pt>
                <c:pt idx="1">
                  <c:v>275000</c:v>
                </c:pt>
                <c:pt idx="2">
                  <c:v>275000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C19-498A-AB4A-E5C3750B7C5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9D1E0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F2937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9EDF4"/>
              </a:solidFill>
              <a:prstDash val="solid"/>
              <a:round/>
            </a:ln>
          </c:spPr>
        </c:majorGridlines>
        <c:numFmt formatCode="\$#,##0.0,,&quot;M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472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048076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lenavon.github.io/10alytics-Hackathon---Checkpoint-/" TargetMode="Externa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8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1E3A66"/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4480560"/>
            <a:ext cx="3840480" cy="3840480"/>
          </a:xfrm>
          <a:prstGeom prst="ellipse">
            <a:avLst/>
          </a:prstGeom>
          <a:solidFill>
            <a:srgbClr val="1E3A66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50292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C8A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 NOVA  •  AUGUST COHORT  •  BUSINESS ANALYSIS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731520" y="141732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Checkpoint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731520" y="24231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D7DE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decides what, and when?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063240"/>
            <a:ext cx="9875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7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Redesigning the discharge and follow-up workflow at Lakeside Health Network so humans and AI each own the decisions they're best placed to make.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49808" y="3886200"/>
            <a:ext cx="2377440" cy="0"/>
          </a:xfrm>
          <a:prstGeom prst="line">
            <a:avLst/>
          </a:prstGeom>
          <a:noFill/>
          <a:ln w="25400">
            <a:solidFill>
              <a:srgbClr val="C8A2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4114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C8A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44348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7EB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Helena Delali Vormawor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731520" y="477316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7EB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Phionah Atukunda, MPH, CHES®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731520" y="5111496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7EB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Angela Eze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731520" y="5449824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7EB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Olushola Omotosho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731520" y="6035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AEB9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Area 2: AI and the Future of Work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8A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BUSINESS PROBLEM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2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hospitals merged. One AI tool. No decision owner.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Lakeside Health Network wants AI to predict which patients will be readmitted within 30 days of discharge, so nurses can prioritise follow-up. The technology is the easy part — the hard part is deciding who owns each decision once AI is in the loop.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743200"/>
            <a:ext cx="3520440" cy="2697480"/>
          </a:xfrm>
          <a:prstGeom prst="roundRect">
            <a:avLst>
              <a:gd name="adj" fmla="val 2712"/>
            </a:avLst>
          </a:prstGeom>
          <a:solidFill>
            <a:srgbClr val="E9EEF7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3017520"/>
            <a:ext cx="594360" cy="594360"/>
          </a:xfrm>
          <a:prstGeom prst="ellipse">
            <a:avLst/>
          </a:prstGeom>
          <a:solidFill>
            <a:srgbClr val="14284B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30175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749040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2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systems, two processes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4343400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Lakeside General and Riverside Specialist ran independent discharge workflows before the merger.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297680" y="2743200"/>
            <a:ext cx="3520440" cy="2697480"/>
          </a:xfrm>
          <a:prstGeom prst="roundRect">
            <a:avLst>
              <a:gd name="adj" fmla="val 2712"/>
            </a:avLst>
          </a:prstGeom>
          <a:solidFill>
            <a:srgbClr val="E9EEF7"/>
          </a:solidFill>
          <a:ln/>
        </p:spPr>
      </p:sp>
      <p:sp>
        <p:nvSpPr>
          <p:cNvPr id="11" name="Shape 9"/>
          <p:cNvSpPr/>
          <p:nvPr/>
        </p:nvSpPr>
        <p:spPr>
          <a:xfrm>
            <a:off x="4572000" y="3017520"/>
            <a:ext cx="594360" cy="594360"/>
          </a:xfrm>
          <a:prstGeom prst="ellipse">
            <a:avLst/>
          </a:prstGeom>
          <a:solidFill>
            <a:srgbClr val="14284B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0" y="30175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4526280" y="3749040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2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Duplicate patient identities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4526280" y="4343400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patient can exist under two different IDs, one at each hospital.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046720" y="2743200"/>
            <a:ext cx="3520440" cy="2697480"/>
          </a:xfrm>
          <a:prstGeom prst="roundRect">
            <a:avLst>
              <a:gd name="adj" fmla="val 2712"/>
            </a:avLst>
          </a:prstGeom>
          <a:solidFill>
            <a:srgbClr val="E9EEF7"/>
          </a:solidFill>
          <a:ln/>
        </p:spPr>
      </p:sp>
      <p:sp>
        <p:nvSpPr>
          <p:cNvPr id="16" name="Shape 14"/>
          <p:cNvSpPr/>
          <p:nvPr/>
        </p:nvSpPr>
        <p:spPr>
          <a:xfrm>
            <a:off x="8321040" y="3017520"/>
            <a:ext cx="594360" cy="594360"/>
          </a:xfrm>
          <a:prstGeom prst="ellipse">
            <a:avLst/>
          </a:prstGeom>
          <a:solidFill>
            <a:srgbClr val="14284B"/>
          </a:solidFill>
          <a:ln/>
        </p:spPr>
      </p:sp>
      <p:sp>
        <p:nvSpPr>
          <p:cNvPr id="17" name="Text 15"/>
          <p:cNvSpPr/>
          <p:nvPr/>
        </p:nvSpPr>
        <p:spPr>
          <a:xfrm>
            <a:off x="8321040" y="30175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8275320" y="3749040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2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one owns the decision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8275320" y="4343400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has defined which AI decisions can be automated and which need a human.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4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</a:t>
            </a: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 Pod Nova  •  10Alytics Students Hackathon 2026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094415" y="647395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14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8A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 &amp; METHODOLOGY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42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narrows the decision. A named human owns it.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 scores and tiers patients at discharge, then routes every tier through a named human checkpoint before it reaches a patient.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377440"/>
            <a:ext cx="2606040" cy="2286000"/>
          </a:xfrm>
          <a:prstGeom prst="roundRect">
            <a:avLst>
              <a:gd name="adj" fmla="val 3200"/>
            </a:avLst>
          </a:prstGeom>
          <a:solidFill>
            <a:srgbClr val="E9EEF7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2560320"/>
            <a:ext cx="457200" cy="457200"/>
          </a:xfrm>
          <a:prstGeom prst="ellipse">
            <a:avLst/>
          </a:prstGeom>
          <a:solidFill>
            <a:srgbClr val="14284B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560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3154680"/>
            <a:ext cx="227685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2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Stakeholder analysis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713232" y="3657600"/>
            <a:ext cx="227685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Mapped everyone affected; one accountable owner per decision (RACI)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337560" y="2377440"/>
            <a:ext cx="2606040" cy="2286000"/>
          </a:xfrm>
          <a:prstGeom prst="roundRect">
            <a:avLst>
              <a:gd name="adj" fmla="val 3200"/>
            </a:avLst>
          </a:prstGeom>
          <a:solidFill>
            <a:srgbClr val="E9EEF7"/>
          </a:solidFill>
          <a:ln/>
        </p:spPr>
      </p:sp>
      <p:sp>
        <p:nvSpPr>
          <p:cNvPr id="11" name="Shape 9"/>
          <p:cNvSpPr/>
          <p:nvPr/>
        </p:nvSpPr>
        <p:spPr>
          <a:xfrm>
            <a:off x="3520440" y="2560320"/>
            <a:ext cx="457200" cy="457200"/>
          </a:xfrm>
          <a:prstGeom prst="ellipse">
            <a:avLst/>
          </a:prstGeom>
          <a:solidFill>
            <a:srgbClr val="14284B"/>
          </a:solidFill>
          <a:ln/>
        </p:spPr>
      </p:sp>
      <p:sp>
        <p:nvSpPr>
          <p:cNvPr id="12" name="Text 10"/>
          <p:cNvSpPr/>
          <p:nvPr/>
        </p:nvSpPr>
        <p:spPr>
          <a:xfrm>
            <a:off x="3520440" y="2560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502152" y="3154680"/>
            <a:ext cx="227685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2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Process mapping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3502152" y="3657600"/>
            <a:ext cx="227685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AS-IS discharge workflow at both hospitals → TO-BE workflow with AI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126480" y="2377440"/>
            <a:ext cx="2606040" cy="2286000"/>
          </a:xfrm>
          <a:prstGeom prst="roundRect">
            <a:avLst>
              <a:gd name="adj" fmla="val 3200"/>
            </a:avLst>
          </a:prstGeom>
          <a:solidFill>
            <a:srgbClr val="E9EEF7"/>
          </a:solidFill>
          <a:ln/>
        </p:spPr>
      </p:sp>
      <p:sp>
        <p:nvSpPr>
          <p:cNvPr id="16" name="Shape 14"/>
          <p:cNvSpPr/>
          <p:nvPr/>
        </p:nvSpPr>
        <p:spPr>
          <a:xfrm>
            <a:off x="6309360" y="2560320"/>
            <a:ext cx="457200" cy="457200"/>
          </a:xfrm>
          <a:prstGeom prst="ellipse">
            <a:avLst/>
          </a:prstGeom>
          <a:solidFill>
            <a:srgbClr val="14284B"/>
          </a:solidFill>
          <a:ln/>
        </p:spPr>
      </p:sp>
      <p:sp>
        <p:nvSpPr>
          <p:cNvPr id="17" name="Text 15"/>
          <p:cNvSpPr/>
          <p:nvPr/>
        </p:nvSpPr>
        <p:spPr>
          <a:xfrm>
            <a:off x="6309360" y="2560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291072" y="3154680"/>
            <a:ext cx="227685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2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Decision-rights design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6291072" y="3657600"/>
            <a:ext cx="227685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decision classified: automated, AI-recommends, or human-only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915400" y="2377440"/>
            <a:ext cx="2606040" cy="2286000"/>
          </a:xfrm>
          <a:prstGeom prst="roundRect">
            <a:avLst>
              <a:gd name="adj" fmla="val 3200"/>
            </a:avLst>
          </a:prstGeom>
          <a:solidFill>
            <a:srgbClr val="E9EEF7"/>
          </a:solidFill>
          <a:ln/>
        </p:spPr>
      </p:sp>
      <p:sp>
        <p:nvSpPr>
          <p:cNvPr id="21" name="Shape 19"/>
          <p:cNvSpPr/>
          <p:nvPr/>
        </p:nvSpPr>
        <p:spPr>
          <a:xfrm>
            <a:off x="9098280" y="2560320"/>
            <a:ext cx="457200" cy="457200"/>
          </a:xfrm>
          <a:prstGeom prst="ellipse">
            <a:avLst/>
          </a:prstGeom>
          <a:solidFill>
            <a:srgbClr val="14284B"/>
          </a:solidFill>
          <a:ln/>
        </p:spPr>
      </p:sp>
      <p:sp>
        <p:nvSpPr>
          <p:cNvPr id="22" name="Text 20"/>
          <p:cNvSpPr/>
          <p:nvPr/>
        </p:nvSpPr>
        <p:spPr>
          <a:xfrm>
            <a:off x="9098280" y="2560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9079992" y="3154680"/>
            <a:ext cx="227685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2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Requirements &amp; validation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9079992" y="3657600"/>
            <a:ext cx="227685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BRD, use cases, traceability, and a shadow pilot before go-live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48640" y="489204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jobs are redesigned around this principle: follow-up nurse, Health Records steward, ward staff.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4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</a:t>
            </a: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 Pod Nova  •  10Alytics Students Hackathon 2026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094415" y="647395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14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8A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42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scores and sorts. Humans decide.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55168" y="1828800"/>
            <a:ext cx="1920240" cy="1005840"/>
          </a:xfrm>
          <a:prstGeom prst="roundRect">
            <a:avLst>
              <a:gd name="adj" fmla="val 8182"/>
            </a:avLst>
          </a:prstGeom>
          <a:solidFill>
            <a:srgbClr val="14284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55168" y="1828800"/>
            <a:ext cx="1920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Discharge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ordered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2602840" y="2249424"/>
            <a:ext cx="265176" cy="164592"/>
          </a:xfrm>
          <a:prstGeom prst="rightArrow">
            <a:avLst/>
          </a:prstGeom>
          <a:solidFill>
            <a:srgbClr val="AEB9CE"/>
          </a:solidFill>
          <a:ln/>
        </p:spPr>
      </p:sp>
      <p:sp>
        <p:nvSpPr>
          <p:cNvPr id="7" name="Shape 5"/>
          <p:cNvSpPr/>
          <p:nvPr/>
        </p:nvSpPr>
        <p:spPr>
          <a:xfrm>
            <a:off x="2895448" y="1828800"/>
            <a:ext cx="1920240" cy="1005840"/>
          </a:xfrm>
          <a:prstGeom prst="roundRect">
            <a:avLst>
              <a:gd name="adj" fmla="val 8182"/>
            </a:avLst>
          </a:prstGeom>
          <a:solidFill>
            <a:srgbClr val="3E6FA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2895448" y="1828800"/>
            <a:ext cx="1920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Match patient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identity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843120" y="2249424"/>
            <a:ext cx="265176" cy="164592"/>
          </a:xfrm>
          <a:prstGeom prst="rightArrow">
            <a:avLst/>
          </a:prstGeom>
          <a:solidFill>
            <a:srgbClr val="AEB9CE"/>
          </a:solidFill>
          <a:ln/>
        </p:spPr>
      </p:sp>
      <p:sp>
        <p:nvSpPr>
          <p:cNvPr id="10" name="Shape 8"/>
          <p:cNvSpPr/>
          <p:nvPr/>
        </p:nvSpPr>
        <p:spPr>
          <a:xfrm>
            <a:off x="5135728" y="1828800"/>
            <a:ext cx="1920240" cy="1005840"/>
          </a:xfrm>
          <a:prstGeom prst="roundRect">
            <a:avLst>
              <a:gd name="adj" fmla="val 8182"/>
            </a:avLst>
          </a:prstGeom>
          <a:solidFill>
            <a:srgbClr val="3E6FA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135728" y="1828800"/>
            <a:ext cx="1920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generates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 score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7083400" y="2249424"/>
            <a:ext cx="265176" cy="164592"/>
          </a:xfrm>
          <a:prstGeom prst="rightArrow">
            <a:avLst/>
          </a:prstGeom>
          <a:solidFill>
            <a:srgbClr val="AEB9CE"/>
          </a:solidFill>
          <a:ln/>
        </p:spPr>
      </p:sp>
      <p:sp>
        <p:nvSpPr>
          <p:cNvPr id="13" name="Shape 11"/>
          <p:cNvSpPr/>
          <p:nvPr/>
        </p:nvSpPr>
        <p:spPr>
          <a:xfrm>
            <a:off x="7376008" y="1828800"/>
            <a:ext cx="1920240" cy="1005840"/>
          </a:xfrm>
          <a:prstGeom prst="roundRect">
            <a:avLst>
              <a:gd name="adj" fmla="val 8182"/>
            </a:avLst>
          </a:prstGeom>
          <a:solidFill>
            <a:srgbClr val="14284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376008" y="1828800"/>
            <a:ext cx="1920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Nurse approves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 overrides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9323680" y="2249424"/>
            <a:ext cx="265176" cy="164592"/>
          </a:xfrm>
          <a:prstGeom prst="rightArrow">
            <a:avLst/>
          </a:prstGeom>
          <a:solidFill>
            <a:srgbClr val="AEB9CE"/>
          </a:solidFill>
          <a:ln/>
        </p:spPr>
      </p:sp>
      <p:sp>
        <p:nvSpPr>
          <p:cNvPr id="16" name="Shape 14"/>
          <p:cNvSpPr/>
          <p:nvPr/>
        </p:nvSpPr>
        <p:spPr>
          <a:xfrm>
            <a:off x="9616288" y="1828800"/>
            <a:ext cx="1920240" cy="1005840"/>
          </a:xfrm>
          <a:prstGeom prst="roundRect">
            <a:avLst>
              <a:gd name="adj" fmla="val 8182"/>
            </a:avLst>
          </a:prstGeom>
          <a:solidFill>
            <a:srgbClr val="C8A24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616288" y="1828800"/>
            <a:ext cx="1920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42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Tailored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b="1" dirty="0">
                <a:solidFill>
                  <a:srgbClr val="142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follow-up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55168" y="338328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2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mandatory human checkpoints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55168" y="3886200"/>
            <a:ext cx="2537460" cy="1508760"/>
          </a:xfrm>
          <a:prstGeom prst="roundRect">
            <a:avLst>
              <a:gd name="adj" fmla="val 4242"/>
            </a:avLst>
          </a:prstGeom>
          <a:solidFill>
            <a:srgbClr val="FFF3CC"/>
          </a:solidFill>
          <a:ln w="15875">
            <a:solidFill>
              <a:srgbClr val="C8A24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92328" y="4069080"/>
            <a:ext cx="502920" cy="502920"/>
          </a:xfrm>
          <a:prstGeom prst="ellipse">
            <a:avLst/>
          </a:prstGeom>
          <a:solidFill>
            <a:srgbClr val="C8A24A"/>
          </a:solidFill>
          <a:ln/>
        </p:spPr>
      </p:sp>
      <p:sp>
        <p:nvSpPr>
          <p:cNvPr id="21" name="Text 19"/>
          <p:cNvSpPr/>
          <p:nvPr/>
        </p:nvSpPr>
        <p:spPr>
          <a:xfrm>
            <a:off x="792328" y="4069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2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HC1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792328" y="4645152"/>
            <a:ext cx="22631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uncertain identity match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375508" y="3886200"/>
            <a:ext cx="2537460" cy="1508760"/>
          </a:xfrm>
          <a:prstGeom prst="roundRect">
            <a:avLst>
              <a:gd name="adj" fmla="val 4242"/>
            </a:avLst>
          </a:prstGeom>
          <a:solidFill>
            <a:srgbClr val="FFF3CC"/>
          </a:solidFill>
          <a:ln w="15875">
            <a:solidFill>
              <a:srgbClr val="C8A24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512668" y="4069080"/>
            <a:ext cx="502920" cy="502920"/>
          </a:xfrm>
          <a:prstGeom prst="ellipse">
            <a:avLst/>
          </a:prstGeom>
          <a:solidFill>
            <a:srgbClr val="C8A24A"/>
          </a:solidFill>
          <a:ln/>
        </p:spPr>
      </p:sp>
      <p:sp>
        <p:nvSpPr>
          <p:cNvPr id="25" name="Text 23"/>
          <p:cNvSpPr/>
          <p:nvPr/>
        </p:nvSpPr>
        <p:spPr>
          <a:xfrm>
            <a:off x="3512668" y="4069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2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HC2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3512668" y="4645152"/>
            <a:ext cx="22631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Manually assess low-confidence cases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095848" y="3886200"/>
            <a:ext cx="2537460" cy="1508760"/>
          </a:xfrm>
          <a:prstGeom prst="roundRect">
            <a:avLst>
              <a:gd name="adj" fmla="val 4242"/>
            </a:avLst>
          </a:prstGeom>
          <a:solidFill>
            <a:srgbClr val="FFF3CC"/>
          </a:solidFill>
          <a:ln w="15875">
            <a:solidFill>
              <a:srgbClr val="C8A24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233008" y="4069080"/>
            <a:ext cx="502920" cy="502920"/>
          </a:xfrm>
          <a:prstGeom prst="ellipse">
            <a:avLst/>
          </a:prstGeom>
          <a:solidFill>
            <a:srgbClr val="C8A24A"/>
          </a:solidFill>
          <a:ln/>
        </p:spPr>
      </p:sp>
      <p:sp>
        <p:nvSpPr>
          <p:cNvPr id="29" name="Text 27"/>
          <p:cNvSpPr/>
          <p:nvPr/>
        </p:nvSpPr>
        <p:spPr>
          <a:xfrm>
            <a:off x="6233008" y="4069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2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HC3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6233008" y="4645152"/>
            <a:ext cx="22631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or override every tier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8816188" y="3886200"/>
            <a:ext cx="2537460" cy="1508760"/>
          </a:xfrm>
          <a:prstGeom prst="roundRect">
            <a:avLst>
              <a:gd name="adj" fmla="val 4242"/>
            </a:avLst>
          </a:prstGeom>
          <a:solidFill>
            <a:srgbClr val="FFF3CC"/>
          </a:solidFill>
          <a:ln w="15875">
            <a:solidFill>
              <a:srgbClr val="C8A24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953348" y="4069080"/>
            <a:ext cx="502920" cy="502920"/>
          </a:xfrm>
          <a:prstGeom prst="ellipse">
            <a:avLst/>
          </a:prstGeom>
          <a:solidFill>
            <a:srgbClr val="C8A24A"/>
          </a:solidFill>
          <a:ln/>
        </p:spPr>
      </p:sp>
      <p:sp>
        <p:nvSpPr>
          <p:cNvPr id="33" name="Text 31"/>
          <p:cNvSpPr/>
          <p:nvPr/>
        </p:nvSpPr>
        <p:spPr>
          <a:xfrm>
            <a:off x="8953348" y="4069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2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HC4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8953348" y="4645152"/>
            <a:ext cx="22631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governance review of overrides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4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</a:t>
            </a: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 Pod Nova  •  10Alytics Students Hackathon 2026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094415" y="647395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8A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MODEL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155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42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decisions AI makes alone — and which need a person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E3F1E4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801368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E7D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325880" y="1819656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42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Automate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31520" y="2468880"/>
            <a:ext cx="3154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Rule-based, reversible, no direct care impact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51960" y="169164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FFF3CC"/>
          </a:solidFill>
          <a:ln/>
        </p:spPr>
      </p:sp>
      <p:sp>
        <p:nvSpPr>
          <p:cNvPr id="9" name="Text 7"/>
          <p:cNvSpPr/>
          <p:nvPr/>
        </p:nvSpPr>
        <p:spPr>
          <a:xfrm>
            <a:off x="4434840" y="1801368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8A6D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5029200" y="1819656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42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recommends, human approves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434840" y="2468880"/>
            <a:ext cx="3154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named person must confirm first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955280" y="169164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F9DEDC"/>
          </a:solidFill>
          <a:ln/>
        </p:spPr>
      </p:sp>
      <p:sp>
        <p:nvSpPr>
          <p:cNvPr id="13" name="Text 11"/>
          <p:cNvSpPr/>
          <p:nvPr/>
        </p:nvSpPr>
        <p:spPr>
          <a:xfrm>
            <a:off x="8138160" y="1801368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B326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8732520" y="1819656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42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Human decides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8138160" y="2468880"/>
            <a:ext cx="3154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may inform, never choose</a:t>
            </a:r>
            <a:endParaRPr lang="en-US" sz="11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429000"/>
          <a:ext cx="11018520" cy="914400"/>
        </p:xfrm>
        <a:graphic>
          <a:graphicData uri="http://schemas.openxmlformats.org/drawingml/2006/table">
            <a:tbl>
              <a:tblPr/>
              <a:tblGrid>
                <a:gridCol w="6583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46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Level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Accountable role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Link records on an exact multi-identifier match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Health Records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Assign tier when data is complete and confident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Follow-up nurse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Assign tier when confidence is low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Follow-up nurse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 thresholds or release a new model version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Governance committee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7" name="Text 14"/>
          <p:cNvSpPr/>
          <p:nvPr/>
        </p:nvSpPr>
        <p:spPr>
          <a:xfrm>
            <a:off x="548640" y="5943600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ten-decision table is in the business case document, Section 5.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4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</a:t>
            </a: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 Pod Nova  •  10Alytics Students Hackathon 2026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1094415" y="647395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8A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OPTIONS ANALYSIS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42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options considered — one that fits the brief</a:t>
            </a:r>
            <a:endParaRPr lang="en-US" sz="25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0698480" cy="914400"/>
        </p:xfrm>
        <a:graphic>
          <a:graphicData uri="http://schemas.openxmlformats.org/drawingml/2006/table">
            <a:tbl>
              <a:tblPr/>
              <a:tblGrid>
                <a:gridCol w="3017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0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 (or why not)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Chosen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A. Do nothing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High-risk patients keep getting missed; the merger's process gaps persist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B. Harmonise process only, no AI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Fixes some data problems, but never targets follow-up effort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C. AI-supported, human-in-the-loop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Targets follow-up, keeps accountability with clinicians, builds trust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D. Full automation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safeguard against data errors or drift; highest patient-safety risk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4526280"/>
            <a:ext cx="10789920" cy="1188720"/>
          </a:xfrm>
          <a:prstGeom prst="roundRect">
            <a:avLst>
              <a:gd name="adj" fmla="val 6154"/>
            </a:avLst>
          </a:prstGeom>
          <a:solidFill>
            <a:srgbClr val="E9EEF7"/>
          </a:solidFill>
          <a:ln/>
        </p:spPr>
      </p:sp>
      <p:sp>
        <p:nvSpPr>
          <p:cNvPr id="6" name="Text 3"/>
          <p:cNvSpPr/>
          <p:nvPr/>
        </p:nvSpPr>
        <p:spPr>
          <a:xfrm>
            <a:off x="822960" y="464515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42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Option C</a:t>
            </a:r>
            <a:endParaRPr lang="en-US" sz="1450" dirty="0"/>
          </a:p>
        </p:txBody>
      </p:sp>
      <p:sp>
        <p:nvSpPr>
          <p:cNvPr id="4" name="Text 4"/>
          <p:cNvSpPr txBox="1"/>
          <p:nvPr/>
        </p:nvSpPr>
        <p:spPr>
          <a:xfrm>
            <a:off x="822960" y="5029200"/>
            <a:ext cx="10241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the only option that uses AI to target follow-up and satisfies the brief's requirement for defined human-review points — and its costs are proportionate to the benefit case.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4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</a:t>
            </a: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 Pod Nova  •  10Alytics Students Hackathon 2026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094415" y="647395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14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8A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CASE AT A GLANCE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2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case for Checkpoint, in one slide</a:t>
            </a:r>
            <a:endParaRPr lang="en-US" sz="2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0698480" cy="914400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98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20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Dimension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Summary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Problem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Two merged hospitals, inconsistent processes, duplicate patient identities, no decision-rights model for AI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Recommended solution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AI-scored, human-approved discharge follow-up workflow with 4 checkpoints and a 3-level automation policy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Illustrative one-time cost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CAD 1.09 million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Illustrative annual net benefit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CAD 1.18 million per year, after ongoing costs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Illustrative payback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Under 12 months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risk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Automation bias and low nurse trust — mitigated by mandatory review and override rights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Timeframe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 weeks to supervised go-live, then phased scale-up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57784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figures are illustrative order-of-magnitude estimates, to be recalibrated with Lakeside's own data before an investment decision. Full detail in the business case, Sections 1, 7 and 8.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4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</a:t>
            </a: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 Pod Nova  •  10Alytics Students Hackathon 2026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094415" y="647395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14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8A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SUMMARY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42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Illustrative benefit outpaces cost from year one</a:t>
            </a:r>
            <a:endParaRPr lang="en-US" sz="25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691640"/>
          <a:ext cx="640080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7223760" y="1874520"/>
            <a:ext cx="4434840" cy="1143000"/>
          </a:xfrm>
          <a:prstGeom prst="roundRect">
            <a:avLst>
              <a:gd name="adj" fmla="val 6400"/>
            </a:avLst>
          </a:prstGeom>
          <a:solidFill>
            <a:srgbClr val="E9EEF7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452360" y="2002536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42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Payback period</a:t>
            </a:r>
            <a:endParaRPr lang="en-US" sz="1350" dirty="0"/>
          </a:p>
        </p:txBody>
      </p:sp>
      <p:sp>
        <p:nvSpPr>
          <p:cNvPr id="7" name="Text 4"/>
          <p:cNvSpPr txBox="1"/>
          <p:nvPr/>
        </p:nvSpPr>
        <p:spPr>
          <a:xfrm>
            <a:off x="7452360" y="2423160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~11 to 12 months from go-live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7223760" y="3246120"/>
            <a:ext cx="4434840" cy="1143000"/>
          </a:xfrm>
          <a:prstGeom prst="roundRect">
            <a:avLst>
              <a:gd name="adj" fmla="val 6400"/>
            </a:avLst>
          </a:prstGeom>
          <a:solidFill>
            <a:srgbClr val="E9EEF7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452360" y="3374136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42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3-year cumulative net benefit</a:t>
            </a:r>
            <a:endParaRPr lang="en-US" sz="1350" dirty="0"/>
          </a:p>
        </p:txBody>
      </p:sp>
      <p:sp>
        <p:nvSpPr>
          <p:cNvPr id="10" name="Text 7"/>
          <p:cNvSpPr txBox="1"/>
          <p:nvPr/>
        </p:nvSpPr>
        <p:spPr>
          <a:xfrm>
            <a:off x="7452360" y="3794760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 2,285,000 (illustrative)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7223760" y="4617720"/>
            <a:ext cx="4434840" cy="1143000"/>
          </a:xfrm>
          <a:prstGeom prst="roundRect">
            <a:avLst>
              <a:gd name="adj" fmla="val 6400"/>
            </a:avLst>
          </a:prstGeom>
          <a:solidFill>
            <a:srgbClr val="E9EEF7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452360" y="4745736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42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Simple 3-year return</a:t>
            </a:r>
            <a:endParaRPr lang="en-US" sz="1350" dirty="0"/>
          </a:p>
        </p:txBody>
      </p:sp>
      <p:sp>
        <p:nvSpPr>
          <p:cNvPr id="13" name="Text 10"/>
          <p:cNvSpPr txBox="1"/>
          <p:nvPr/>
        </p:nvSpPr>
        <p:spPr>
          <a:xfrm>
            <a:off x="7452360" y="5166360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~210% on the one-time investment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548640" y="594360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readmission-avoidance benefit is the most sensitive assumption, and the first to validate in the shadow pilot.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4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</a:t>
            </a: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 Pod Nova  •  10Alytics Students Hackathon 2026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1094415" y="647395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14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8A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RISKS &amp; MITIGATIONS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42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risks we designed for, up front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120640" cy="1783080"/>
          </a:xfrm>
          <a:prstGeom prst="roundRect">
            <a:avLst>
              <a:gd name="adj" fmla="val 4103"/>
            </a:avLst>
          </a:prstGeom>
          <a:solidFill>
            <a:srgbClr val="F7F8FB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783080"/>
            <a:ext cx="82296" cy="1783080"/>
          </a:xfrm>
          <a:prstGeom prst="rect">
            <a:avLst/>
          </a:prstGeom>
          <a:solidFill>
            <a:srgbClr val="B3261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196596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2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Automation bias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560320"/>
            <a:ext cx="4617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  </a:t>
            </a: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Mandatory review (HC3), visible confidence and drivers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989320" y="1783080"/>
            <a:ext cx="5120640" cy="1783080"/>
          </a:xfrm>
          <a:prstGeom prst="roundRect">
            <a:avLst>
              <a:gd name="adj" fmla="val 4103"/>
            </a:avLst>
          </a:prstGeom>
          <a:solidFill>
            <a:srgbClr val="F7F8FB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989320" y="1783080"/>
            <a:ext cx="82296" cy="1783080"/>
          </a:xfrm>
          <a:prstGeom prst="rect">
            <a:avLst/>
          </a:prstGeom>
          <a:solidFill>
            <a:srgbClr val="B3261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263640" y="196596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2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Wrong record merge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263640" y="2560320"/>
            <a:ext cx="4617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  </a:t>
            </a: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Reversible merges, HC1 steward review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840480"/>
            <a:ext cx="5120640" cy="1783080"/>
          </a:xfrm>
          <a:prstGeom prst="roundRect">
            <a:avLst>
              <a:gd name="adj" fmla="val 4103"/>
            </a:avLst>
          </a:prstGeom>
          <a:solidFill>
            <a:srgbClr val="F7F8FB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3840480"/>
            <a:ext cx="82296" cy="1783080"/>
          </a:xfrm>
          <a:prstGeom prst="rect">
            <a:avLst/>
          </a:prstGeom>
          <a:solidFill>
            <a:srgbClr val="B3261E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22960" y="402336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2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Low nurse trust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4617720"/>
            <a:ext cx="4617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  </a:t>
            </a: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Override rights, plain-language drivers, co-design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989320" y="3840480"/>
            <a:ext cx="5120640" cy="1783080"/>
          </a:xfrm>
          <a:prstGeom prst="roundRect">
            <a:avLst>
              <a:gd name="adj" fmla="val 4103"/>
            </a:avLst>
          </a:prstGeom>
          <a:solidFill>
            <a:srgbClr val="F7F8FB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89320" y="3840480"/>
            <a:ext cx="82296" cy="1783080"/>
          </a:xfrm>
          <a:prstGeom prst="rect">
            <a:avLst/>
          </a:prstGeom>
          <a:solidFill>
            <a:srgbClr val="B3261E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263640" y="402336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2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Uneven model performance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6263640" y="4617720"/>
            <a:ext cx="4617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  </a:t>
            </a: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Subgroup monitoring, monthly governance review (HC4)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4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</a:t>
            </a: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 Pod Nova  •  10Alytics Students Hackathon 2026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094415" y="647395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14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8A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ROADMAP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42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 weeks to a supervised go-live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1743304" y="2670048"/>
            <a:ext cx="8705088" cy="0"/>
          </a:xfrm>
          <a:prstGeom prst="line">
            <a:avLst/>
          </a:prstGeom>
          <a:noFill/>
          <a:ln w="25400">
            <a:solidFill>
              <a:srgbClr val="C9D1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59256" y="2286000"/>
            <a:ext cx="768096" cy="768096"/>
          </a:xfrm>
          <a:prstGeom prst="ellipse">
            <a:avLst/>
          </a:prstGeom>
          <a:solidFill>
            <a:srgbClr val="14284B"/>
          </a:solidFill>
          <a:ln/>
        </p:spPr>
      </p:sp>
      <p:sp>
        <p:nvSpPr>
          <p:cNvPr id="6" name="Text 4"/>
          <p:cNvSpPr/>
          <p:nvPr/>
        </p:nvSpPr>
        <p:spPr>
          <a:xfrm>
            <a:off x="1359256" y="2286000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737464" y="324612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42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Prepare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37464" y="37033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A6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Wks 1–4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83184" y="406908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Baseline, privacy assessment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535528" y="2286000"/>
            <a:ext cx="768096" cy="768096"/>
          </a:xfrm>
          <a:prstGeom prst="ellipse">
            <a:avLst/>
          </a:prstGeom>
          <a:solidFill>
            <a:srgbClr val="14284B"/>
          </a:solidFill>
          <a:ln/>
        </p:spPr>
      </p:sp>
      <p:sp>
        <p:nvSpPr>
          <p:cNvPr id="11" name="Text 9"/>
          <p:cNvSpPr/>
          <p:nvPr/>
        </p:nvSpPr>
        <p:spPr>
          <a:xfrm>
            <a:off x="3535528" y="2286000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2913736" y="324612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42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 up &amp; train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2913736" y="37033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A6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Wks 5–12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2959456" y="406908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duplicates, train staff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711800" y="2286000"/>
            <a:ext cx="768096" cy="768096"/>
          </a:xfrm>
          <a:prstGeom prst="ellipse">
            <a:avLst/>
          </a:prstGeom>
          <a:solidFill>
            <a:srgbClr val="C8A24A"/>
          </a:solidFill>
          <a:ln/>
        </p:spPr>
      </p:sp>
      <p:sp>
        <p:nvSpPr>
          <p:cNvPr id="16" name="Text 14"/>
          <p:cNvSpPr/>
          <p:nvPr/>
        </p:nvSpPr>
        <p:spPr>
          <a:xfrm>
            <a:off x="5711800" y="2286000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42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5090008" y="324612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42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Shadow pilot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5090008" y="37033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A6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Wks 13–20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5135728" y="406908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without acting, validate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888072" y="2286000"/>
            <a:ext cx="768096" cy="768096"/>
          </a:xfrm>
          <a:prstGeom prst="ellipse">
            <a:avLst/>
          </a:prstGeom>
          <a:solidFill>
            <a:srgbClr val="14284B"/>
          </a:solidFill>
          <a:ln/>
        </p:spPr>
      </p:sp>
      <p:sp>
        <p:nvSpPr>
          <p:cNvPr id="21" name="Text 19"/>
          <p:cNvSpPr/>
          <p:nvPr/>
        </p:nvSpPr>
        <p:spPr>
          <a:xfrm>
            <a:off x="7888072" y="2286000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22" name="Text 20"/>
          <p:cNvSpPr txBox="1"/>
          <p:nvPr/>
        </p:nvSpPr>
        <p:spPr>
          <a:xfrm>
            <a:off x="7266280" y="324612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42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Supervised go-live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7266280" y="37033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A6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Wks 21–28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312000" y="406908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ward per site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10064344" y="2286000"/>
            <a:ext cx="768096" cy="768096"/>
          </a:xfrm>
          <a:prstGeom prst="ellipse">
            <a:avLst/>
          </a:prstGeom>
          <a:solidFill>
            <a:srgbClr val="14284B"/>
          </a:solidFill>
          <a:ln/>
        </p:spPr>
      </p:sp>
      <p:sp>
        <p:nvSpPr>
          <p:cNvPr id="26" name="Text 24"/>
          <p:cNvSpPr/>
          <p:nvPr/>
        </p:nvSpPr>
        <p:spPr>
          <a:xfrm>
            <a:off x="10064344" y="2286000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7" name="Text 25"/>
          <p:cNvSpPr txBox="1"/>
          <p:nvPr/>
        </p:nvSpPr>
        <p:spPr>
          <a:xfrm>
            <a:off x="9442552" y="324612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42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Scale &amp; embed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9442552" y="37033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A6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29+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9488272" y="406908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network-wide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48640" y="539496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Shadow pilot (Phase 2) is the key gate: it validates the benefit case before wider investment.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4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</a:t>
            </a: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 Pod Nova  •  10Alytics Students Hackathon 2026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094415" y="647395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14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8A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CRITERIA &amp; KPIS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2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we'll know Checkpoint is working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measure is SMART — a specific number, a named baseline, a fixed review cycle. Figures are illustrative targets pending the Phase 0 baseline.</a:t>
            </a:r>
            <a:endParaRPr lang="en-US" sz="11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57400"/>
          <a:ext cx="10789920" cy="4032504"/>
        </p:xfrm>
        <a:graphic>
          <a:graphicData uri="http://schemas.openxmlformats.org/drawingml/2006/table">
            <a:tbl>
              <a:tblPr/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69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760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Measure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Illustrative target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Review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60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High-tier patients contacted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≥90% within 2 working days of discharge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60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30-day readmission, High-tier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≥15% reduction vs. baseline within 6 months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Quarterly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60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Override rate vs. AI tier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10–20% band; any reason code &gt;10% triggers review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Monthly, HC4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60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Duplicate record rate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From ~8% baseline to &lt;2% within 90 days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Monthly, Phase 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60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Nurse trust score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≥80% rate the tool 4/5 or higher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 of pilot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60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Subgroup performance gap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≤5 percentage points across subgroups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Monthly, HC4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4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</a:t>
            </a: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 Pod Nova  •  10Alytics Students Hackathon 2026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094415" y="647395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14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8A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ALIGNMENT TO THE CHALLENGE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155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42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for Focus Area 2: AI and the Future of Work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0789920" cy="960120"/>
          </a:xfrm>
          <a:prstGeom prst="roundRect">
            <a:avLst>
              <a:gd name="adj" fmla="val 7619"/>
            </a:avLst>
          </a:prstGeom>
          <a:solidFill>
            <a:srgbClr val="E9EEF7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664208"/>
            <a:ext cx="10241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i="1" dirty="0">
                <a:solidFill>
                  <a:srgbClr val="142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“How can organisations redesign jobs and workflows to help humans work effectively alongside AI?”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48640" y="2743200"/>
            <a:ext cx="3520440" cy="54864"/>
          </a:xfrm>
          <a:prstGeom prst="rect">
            <a:avLst/>
          </a:prstGeom>
          <a:solidFill>
            <a:srgbClr val="14284B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907792"/>
            <a:ext cx="3520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2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Follow-up nurse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337560"/>
            <a:ext cx="3520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building call lists by hand, to reviewing a prioritised worklist and owning the decision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251960" y="2743200"/>
            <a:ext cx="3520440" cy="54864"/>
          </a:xfrm>
          <a:prstGeom prst="rect">
            <a:avLst/>
          </a:prstGeom>
          <a:solidFill>
            <a:srgbClr val="14284B"/>
          </a:solidFill>
          <a:ln/>
        </p:spPr>
      </p:sp>
      <p:sp>
        <p:nvSpPr>
          <p:cNvPr id="10" name="Text 8"/>
          <p:cNvSpPr/>
          <p:nvPr/>
        </p:nvSpPr>
        <p:spPr>
          <a:xfrm>
            <a:off x="4251960" y="2907792"/>
            <a:ext cx="3520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2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Health Records team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251960" y="3337560"/>
            <a:ext cx="3520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filing and retrieval, to network patient-identity stewardship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955280" y="2743200"/>
            <a:ext cx="3520440" cy="54864"/>
          </a:xfrm>
          <a:prstGeom prst="rect">
            <a:avLst/>
          </a:prstGeom>
          <a:solidFill>
            <a:srgbClr val="14284B"/>
          </a:solidFill>
          <a:ln/>
        </p:spPr>
      </p:sp>
      <p:sp>
        <p:nvSpPr>
          <p:cNvPr id="13" name="Text 11"/>
          <p:cNvSpPr/>
          <p:nvPr/>
        </p:nvSpPr>
        <p:spPr>
          <a:xfrm>
            <a:off x="7955280" y="2907792"/>
            <a:ext cx="3520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2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Ward staff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7955280" y="3337560"/>
            <a:ext cx="3520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two discharge standards, to one harmonised process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4663440"/>
            <a:ext cx="502920" cy="502920"/>
          </a:xfrm>
          <a:prstGeom prst="ellipse">
            <a:avLst/>
          </a:prstGeom>
          <a:solidFill>
            <a:srgbClr val="C8A24A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4663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42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188720" y="46177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42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Good Health &amp; Well-Being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1188720" y="491947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Better-targeted follow-up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251960" y="4663440"/>
            <a:ext cx="502920" cy="502920"/>
          </a:xfrm>
          <a:prstGeom prst="ellipse">
            <a:avLst/>
          </a:prstGeom>
          <a:solidFill>
            <a:srgbClr val="C8A24A"/>
          </a:solidFill>
          <a:ln/>
        </p:spPr>
      </p:sp>
      <p:sp>
        <p:nvSpPr>
          <p:cNvPr id="20" name="Text 18"/>
          <p:cNvSpPr/>
          <p:nvPr/>
        </p:nvSpPr>
        <p:spPr>
          <a:xfrm>
            <a:off x="4251960" y="4663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42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892040" y="46177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42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Reduced Inequalities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892040" y="491947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standard of care, both sites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955280" y="4663440"/>
            <a:ext cx="502920" cy="502920"/>
          </a:xfrm>
          <a:prstGeom prst="ellipse">
            <a:avLst/>
          </a:prstGeom>
          <a:solidFill>
            <a:srgbClr val="C8A24A"/>
          </a:solidFill>
          <a:ln/>
        </p:spPr>
      </p:sp>
      <p:sp>
        <p:nvSpPr>
          <p:cNvPr id="24" name="Text 22"/>
          <p:cNvSpPr/>
          <p:nvPr/>
        </p:nvSpPr>
        <p:spPr>
          <a:xfrm>
            <a:off x="7955280" y="4663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42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8595360" y="46177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42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Partnerships for the Goals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8595360" y="491947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 data sharing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4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</a:t>
            </a: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 Pod Nova  •  10Alytics Students Hackathon 2026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094415" y="647395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14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8A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PROTOTYPE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42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Checkpoint, built and clickable</a:t>
            </a:r>
            <a:endParaRPr lang="en-US" sz="2700" dirty="0"/>
          </a:p>
        </p:txBody>
      </p:sp>
      <p:pic>
        <p:nvPicPr>
          <p:cNvPr id="4" name="Image 0" descr="showca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71600"/>
            <a:ext cx="7406640" cy="381032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183880" y="15087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2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roles, one tool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8183880" y="2066544"/>
            <a:ext cx="91440" cy="91440"/>
          </a:xfrm>
          <a:prstGeom prst="ellipse">
            <a:avLst/>
          </a:prstGeom>
          <a:solidFill>
            <a:srgbClr val="C8A24A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8412480" y="1938528"/>
            <a:ext cx="3246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Follow-up nurse: approve or override every tier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8183880" y="2633472"/>
            <a:ext cx="91440" cy="91440"/>
          </a:xfrm>
          <a:prstGeom prst="ellipse">
            <a:avLst/>
          </a:prstGeom>
          <a:solidFill>
            <a:srgbClr val="C8A24A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8412480" y="2505456"/>
            <a:ext cx="3246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Records: resolve identity matches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8183880" y="3200400"/>
            <a:ext cx="91440" cy="91440"/>
          </a:xfrm>
          <a:prstGeom prst="ellipse">
            <a:avLst/>
          </a:prstGeom>
          <a:solidFill>
            <a:srgbClr val="C8A24A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8412480" y="3072384"/>
            <a:ext cx="3246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Governance: monthly oversight of overrides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8183880" y="3767328"/>
            <a:ext cx="91440" cy="91440"/>
          </a:xfrm>
          <a:prstGeom prst="ellipse">
            <a:avLst/>
          </a:prstGeom>
          <a:solidFill>
            <a:srgbClr val="C8A24A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8412480" y="3639312"/>
            <a:ext cx="3246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action logged and reversible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8183880" y="4526280"/>
            <a:ext cx="3474720" cy="1417320"/>
          </a:xfrm>
          <a:prstGeom prst="roundRect">
            <a:avLst>
              <a:gd name="adj" fmla="val 5161"/>
            </a:avLst>
          </a:prstGeom>
          <a:solidFill>
            <a:srgbClr val="14284B"/>
          </a:solidFill>
          <a:ln/>
        </p:spPr>
      </p:sp>
      <p:sp>
        <p:nvSpPr>
          <p:cNvPr id="15" name="Text 12"/>
          <p:cNvSpPr/>
          <p:nvPr/>
        </p:nvSpPr>
        <p:spPr>
          <a:xfrm>
            <a:off x="8412480" y="466344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C8A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000" dirty="0"/>
          </a:p>
        </p:txBody>
      </p:sp>
      <p:sp>
        <p:nvSpPr>
          <p:cNvPr id="16" name="Text 13">
            <a:hlinkClick r:id="rId4"/>
          </p:cNvPr>
          <p:cNvSpPr txBox="1"/>
          <p:nvPr/>
        </p:nvSpPr>
        <p:spPr>
          <a:xfrm>
            <a:off x="8412480" y="4956048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lenavon.github.io/10alytics-</a:t>
            </a:r>
            <a:endParaRPr lang="en-US" sz="1100" dirty="0"/>
          </a:p>
          <a:p>
            <a:pPr marL="0" indent="0">
              <a:buNone/>
            </a:pPr>
            <a:r>
              <a:rPr lang="en-US" sz="11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Hackathon---Checkpoint-/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8412480" y="557784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C9D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recorded demo is included with this submission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4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</a:t>
            </a: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 Pod Nova  •  10Alytics Students Hackathon 2026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1094415" y="647395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14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428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1E3A66"/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4480560"/>
            <a:ext cx="3840480" cy="3840480"/>
          </a:xfrm>
          <a:prstGeom prst="ellipse">
            <a:avLst/>
          </a:prstGeom>
          <a:solidFill>
            <a:srgbClr val="1E3A6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4864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8A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&amp; THANK YOU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1005840"/>
            <a:ext cx="9601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Proceed with a shadow pilot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31520" y="1737360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7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the decision model and the benefit case before wider investment.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77240" y="2377440"/>
            <a:ext cx="502920" cy="502920"/>
          </a:xfrm>
          <a:prstGeom prst="ellipse">
            <a:avLst/>
          </a:prstGeom>
          <a:solidFill>
            <a:srgbClr val="C8A24A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377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2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463040" y="2350008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Secure sponsorship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846320" y="2350008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7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of Directors sponsor and a governance committee with clear terms of reference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777240" y="3246120"/>
            <a:ext cx="502920" cy="502920"/>
          </a:xfrm>
          <a:prstGeom prst="ellipse">
            <a:avLst/>
          </a:prstGeom>
          <a:solidFill>
            <a:srgbClr val="C8A24A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3246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2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463040" y="3218688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Baseline the numbers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846320" y="3218688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7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illustrative figures with Lakeside's real duplicate rate, readmissions and follow-up timing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77240" y="4114800"/>
            <a:ext cx="502920" cy="502920"/>
          </a:xfrm>
          <a:prstGeom prst="ellipse">
            <a:avLst/>
          </a:prstGeom>
          <a:solidFill>
            <a:srgbClr val="C8A24A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4114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2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463040" y="4087368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 the shadow pilot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4846320" y="4087368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7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weeks to a validated benefit case and a go or no-go decision, before scaling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49808" y="5257800"/>
            <a:ext cx="2194560" cy="0"/>
          </a:xfrm>
          <a:prstGeom prst="line">
            <a:avLst/>
          </a:prstGeom>
          <a:noFill/>
          <a:ln w="25400">
            <a:solidFill>
              <a:srgbClr val="C8A2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54406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you.  Checkpoint — a human-centred path to AI-supported care at Lakeside Health Network.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731520" y="630936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E8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Developed with the assistance of Claude (Anthropic) for drafting, diagrams and prototype code. All analysis, requirements decisions and business judgement are the work of the Pod Nova team.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1487</Words>
  <Application>Microsoft Office PowerPoint</Application>
  <PresentationFormat>Widescreen</PresentationFormat>
  <Paragraphs>272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Lena</cp:lastModifiedBy>
  <cp:revision>1</cp:revision>
  <dcterms:created xsi:type="dcterms:W3CDTF">2026-10-03T17:55:57Z</dcterms:created>
  <dcterms:modified xsi:type="dcterms:W3CDTF">2026-10-03T18:57:02Z</dcterms:modified>
</cp:coreProperties>
</file>